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field-survey brief: 16  pharmacies; 13 had some software.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OpenAI-generated clay-morphism asset: pharmacy-owner-hero.png.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fad271163c_0_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" name="Google Shape;25;g3fad271163c_0_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field-survey brief: 16  pharmacies; 13 had some software.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OpenAI-generated clay-morphism asset: pharmacy-owner-hero.png.</a:t>
            </a:r>
            <a:endParaRPr/>
          </a:p>
        </p:txBody>
      </p:sp>
      <p:sp>
        <p:nvSpPr>
          <p:cNvPr id="26" name="Google Shape;26;g3fad271163c_0_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field-survey brief: 13 of 16 visited pharmacies had some form of software.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Interpretation is directional because the sample is small and localized.</a:t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field-survey brief: BONIK observed as more popular; BONIK initial 70,000 / monthly 3,000; Mediasoft initial 30,000 / monthly 2,000; IQRASYS annotation.</a:t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field-survey brief: SR visits at night, checks shelves, gives reminders and takes orders; order is recorded in a large khata; delivery arrives next day; settlement is hard cash; entry specialists cover 3–4 pharmacies in parallel.</a:t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field-survey brief: SR visits at night, sees shelves, gives reminders and takes orders.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OpenAI-generated clay-morphism asset: night-sr-ordering.png.</a:t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field-survey brief: large khata, pharmacy software and hard-cash settlement coexist.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OpenAI-generated clay-morphism asset: khata-software-cash.png.</a:t>
            </a:r>
            <a:endParaRPr/>
          </a:p>
        </p:txBody>
      </p:sp>
      <p:sp>
        <p:nvSpPr>
          <p:cNvPr id="157" name="Google Shape;157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field-survey brief: Bonik lets pharmacies order from Anchor/manufacturer; delivery is performed by Anchor. Settlement mechanism was explicitly not confirmed.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IQRASYS annotation supplied by the user.</a:t>
            </a:r>
            <a:endParaRPr/>
          </a:p>
        </p:txBody>
      </p:sp>
      <p:sp>
        <p:nvSpPr>
          <p:cNvPr id="174" name="Google Shape;174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price points: BONIK 70,000 initial and 3,000 monthly; Mediasoft 30,000 initial and 2,000 monthly.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Derived ratios: 70,000 / 30,000 = 2.33x; 3,000 / 2,000 = 1.5x.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observation: BONIK is more popular in the visited set.</a:t>
            </a:r>
            <a:endParaRPr/>
          </a:p>
        </p:txBody>
      </p:sp>
      <p:sp>
        <p:nvSpPr>
          <p:cNvPr id="200" name="Google Shape;200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Strategic interpretation based only on the user-provided 16-pharmacy field survey.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Recommended next validations: active usage, purchasing wallet share and settlement flow.</a:t>
            </a:r>
            <a:endParaRPr/>
          </a:p>
        </p:txBody>
      </p:sp>
      <p:sp>
        <p:nvSpPr>
          <p:cNvPr id="218" name="Google Shape;21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fad271163c_0_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g3fad271163c_0_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field-survey brief: 16  pharmacies; 13 had some software.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OpenAI-generated clay-morphism asset: pharmacy-owner-hero.png.</a:t>
            </a:r>
            <a:endParaRPr/>
          </a:p>
        </p:txBody>
      </p:sp>
      <p:sp>
        <p:nvSpPr>
          <p:cNvPr id="241" name="Google Shape;241;g3fad271163c_0_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fad271163c_0_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g3fad271163c_0_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[Sources]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User-provided field-survey brief: 16  pharmacies; 13 had some software.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- OpenAI-generated clay-morphism asset: pharmacy-owner-hero.png.</a:t>
            </a:r>
            <a:endParaRPr/>
          </a:p>
        </p:txBody>
      </p:sp>
      <p:sp>
        <p:nvSpPr>
          <p:cNvPr id="248" name="Google Shape;248;g3fad271163c_0_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image" Target="../media/image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Relationship Id="rId4" Type="http://schemas.openxmlformats.org/officeDocument/2006/relationships/image" Target="../media/image3.jpg"/><Relationship Id="rId5" Type="http://schemas.openxmlformats.org/officeDocument/2006/relationships/image" Target="../media/image1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 rotWithShape="1">
          <a:blip r:embed="rId3">
            <a:alphaModFix/>
          </a:blip>
          <a:srcRect b="27" l="0" r="0" t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3"/>
          <p:cNvSpPr/>
          <p:nvPr/>
        </p:nvSpPr>
        <p:spPr>
          <a:xfrm>
            <a:off x="685800" y="723900"/>
            <a:ext cx="37147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FAE68"/>
                </a:solidFill>
              </a:rPr>
              <a:t>FIELD SNAPSHOT • </a:t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85800" y="1219200"/>
            <a:ext cx="6269700" cy="16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083D2C"/>
                </a:solidFill>
              </a:rPr>
              <a:t>Software is already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50">
                <a:solidFill>
                  <a:srgbClr val="083D2C"/>
                </a:solidFill>
              </a:rPr>
              <a:t>inside the pharmacy</a:t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85800" y="3105150"/>
            <a:ext cx="4286250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25">
                <a:solidFill>
                  <a:srgbClr val="143A2B"/>
                </a:solidFill>
              </a:rPr>
              <a:t>What 16 pharmacy visits reveal about software, ordering and the human workflow</a:t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685800" y="4343400"/>
            <a:ext cx="1314450" cy="76200"/>
          </a:xfrm>
          <a:prstGeom prst="roundRect">
            <a:avLst>
              <a:gd fmla="val 50000" name="adj"/>
            </a:avLst>
          </a:prstGeom>
          <a:solidFill>
            <a:srgbClr val="3FA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685800" y="4591050"/>
            <a:ext cx="3714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F5138"/>
                </a:solidFill>
              </a:rPr>
              <a:t>13 of 16 had some form of software</a:t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685800" y="6191250"/>
            <a:ext cx="41910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>
                <a:solidFill>
                  <a:srgbClr val="62756B"/>
                </a:solidFill>
              </a:rPr>
              <a:t>Small directional sample — not a market-share estimate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A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00">
            <a:off x="6910725" y="1761950"/>
            <a:ext cx="5186000" cy="3672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/>
          <p:nvPr/>
        </p:nvSpPr>
        <p:spPr>
          <a:xfrm>
            <a:off x="365625" y="1778200"/>
            <a:ext cx="9159300" cy="46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</a:rPr>
              <a:t>Location</a:t>
            </a:r>
            <a:br>
              <a:rPr b="1" lang="en-US" sz="7700">
                <a:solidFill>
                  <a:srgbClr val="3FAE68"/>
                </a:solidFill>
              </a:rPr>
            </a:br>
            <a:r>
              <a:rPr b="1" lang="en-US" sz="7700">
                <a:solidFill>
                  <a:srgbClr val="3FAE68"/>
                </a:solidFill>
              </a:rPr>
              <a:t>Bashundhara</a:t>
            </a:r>
            <a:endParaRPr sz="7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A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609600" y="3429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FAE68"/>
                </a:solidFill>
              </a:rPr>
              <a:t> PHARMACY SURVEY</a:t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609600" y="666750"/>
            <a:ext cx="1066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83D2C"/>
                </a:solidFill>
              </a:rPr>
              <a:t>13 of 16 pharmacies use some software</a:t>
            </a:r>
            <a:endParaRPr/>
          </a:p>
        </p:txBody>
      </p:sp>
      <p:sp>
        <p:nvSpPr>
          <p:cNvPr id="37" name="Google Shape;37;p5"/>
          <p:cNvSpPr/>
          <p:nvPr/>
        </p:nvSpPr>
        <p:spPr>
          <a:xfrm>
            <a:off x="762000" y="1809750"/>
            <a:ext cx="238125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400">
                <a:solidFill>
                  <a:srgbClr val="083D2C"/>
                </a:solidFill>
              </a:rPr>
              <a:t>13</a:t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2590800" y="2362200"/>
            <a:ext cx="16192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3FAE68"/>
                </a:solidFill>
              </a:rPr>
              <a:t>/ 16</a:t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800100" y="3486150"/>
            <a:ext cx="40005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143A2B"/>
                </a:solidFill>
              </a:rPr>
              <a:t>Software penetration looks high in this small, urban sample.</a:t>
            </a:r>
            <a:endParaRPr/>
          </a:p>
        </p:txBody>
      </p:sp>
      <p:sp>
        <p:nvSpPr>
          <p:cNvPr id="40" name="Google Shape;40;p5"/>
          <p:cNvSpPr/>
          <p:nvPr/>
        </p:nvSpPr>
        <p:spPr>
          <a:xfrm>
            <a:off x="800100" y="4533900"/>
            <a:ext cx="4095750" cy="666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2756B"/>
                </a:solidFill>
              </a:rPr>
              <a:t>The next question is not adoption. It is what the software actually changes.</a:t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5810250" y="1619250"/>
            <a:ext cx="5334000" cy="3905250"/>
          </a:xfrm>
          <a:prstGeom prst="roundRect">
            <a:avLst>
              <a:gd fmla="val 5854" name="adj"/>
            </a:avLst>
          </a:prstGeom>
          <a:solidFill>
            <a:srgbClr val="FFFFFF"/>
          </a:solidFill>
          <a:ln cap="flat" cmpd="sng" w="9525">
            <a:solidFill>
              <a:srgbClr val="CFE3D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5"/>
          <p:cNvSpPr/>
          <p:nvPr/>
        </p:nvSpPr>
        <p:spPr>
          <a:xfrm>
            <a:off x="6572250" y="2190750"/>
            <a:ext cx="514350" cy="514350"/>
          </a:xfrm>
          <a:prstGeom prst="ellipse">
            <a:avLst/>
          </a:prstGeom>
          <a:solidFill>
            <a:srgbClr val="3FAE68"/>
          </a:solidFill>
          <a:ln cap="flat" cmpd="sng" w="9525">
            <a:solidFill>
              <a:srgbClr val="0F5138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5"/>
          <p:cNvSpPr/>
          <p:nvPr/>
        </p:nvSpPr>
        <p:spPr>
          <a:xfrm>
            <a:off x="7639050" y="2190750"/>
            <a:ext cx="514350" cy="514350"/>
          </a:xfrm>
          <a:prstGeom prst="ellipse">
            <a:avLst/>
          </a:prstGeom>
          <a:solidFill>
            <a:srgbClr val="3FAE68"/>
          </a:solidFill>
          <a:ln cap="flat" cmpd="sng" w="9525">
            <a:solidFill>
              <a:srgbClr val="0F5138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8705850" y="2190750"/>
            <a:ext cx="514350" cy="514350"/>
          </a:xfrm>
          <a:prstGeom prst="ellipse">
            <a:avLst/>
          </a:prstGeom>
          <a:solidFill>
            <a:srgbClr val="3FAE68"/>
          </a:solidFill>
          <a:ln cap="flat" cmpd="sng" w="9525">
            <a:solidFill>
              <a:srgbClr val="0F5138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5"/>
          <p:cNvSpPr/>
          <p:nvPr/>
        </p:nvSpPr>
        <p:spPr>
          <a:xfrm>
            <a:off x="9772650" y="2190750"/>
            <a:ext cx="514350" cy="514350"/>
          </a:xfrm>
          <a:prstGeom prst="ellipse">
            <a:avLst/>
          </a:prstGeom>
          <a:solidFill>
            <a:srgbClr val="3FAE68"/>
          </a:solidFill>
          <a:ln cap="flat" cmpd="sng" w="9525">
            <a:solidFill>
              <a:srgbClr val="0F5138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5"/>
          <p:cNvSpPr/>
          <p:nvPr/>
        </p:nvSpPr>
        <p:spPr>
          <a:xfrm>
            <a:off x="6572250" y="2971800"/>
            <a:ext cx="514350" cy="514350"/>
          </a:xfrm>
          <a:prstGeom prst="ellipse">
            <a:avLst/>
          </a:prstGeom>
          <a:solidFill>
            <a:srgbClr val="3FAE68"/>
          </a:solidFill>
          <a:ln cap="flat" cmpd="sng" w="9525">
            <a:solidFill>
              <a:srgbClr val="0F5138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7639050" y="2971800"/>
            <a:ext cx="514350" cy="514350"/>
          </a:xfrm>
          <a:prstGeom prst="ellipse">
            <a:avLst/>
          </a:prstGeom>
          <a:solidFill>
            <a:srgbClr val="3FAE68"/>
          </a:solidFill>
          <a:ln cap="flat" cmpd="sng" w="9525">
            <a:solidFill>
              <a:srgbClr val="0F5138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5"/>
          <p:cNvSpPr/>
          <p:nvPr/>
        </p:nvSpPr>
        <p:spPr>
          <a:xfrm>
            <a:off x="8705850" y="2971800"/>
            <a:ext cx="514350" cy="514350"/>
          </a:xfrm>
          <a:prstGeom prst="ellipse">
            <a:avLst/>
          </a:prstGeom>
          <a:solidFill>
            <a:srgbClr val="3FAE68"/>
          </a:solidFill>
          <a:ln cap="flat" cmpd="sng" w="9525">
            <a:solidFill>
              <a:srgbClr val="0F5138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5"/>
          <p:cNvSpPr/>
          <p:nvPr/>
        </p:nvSpPr>
        <p:spPr>
          <a:xfrm>
            <a:off x="9772650" y="2971800"/>
            <a:ext cx="514350" cy="514350"/>
          </a:xfrm>
          <a:prstGeom prst="ellipse">
            <a:avLst/>
          </a:prstGeom>
          <a:solidFill>
            <a:srgbClr val="3FAE68"/>
          </a:solidFill>
          <a:ln cap="flat" cmpd="sng" w="9525">
            <a:solidFill>
              <a:srgbClr val="0F5138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5"/>
          <p:cNvSpPr/>
          <p:nvPr/>
        </p:nvSpPr>
        <p:spPr>
          <a:xfrm>
            <a:off x="6572250" y="3752850"/>
            <a:ext cx="514350" cy="514350"/>
          </a:xfrm>
          <a:prstGeom prst="ellipse">
            <a:avLst/>
          </a:prstGeom>
          <a:solidFill>
            <a:srgbClr val="3FAE68"/>
          </a:solidFill>
          <a:ln cap="flat" cmpd="sng" w="9525">
            <a:solidFill>
              <a:srgbClr val="0F5138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7639050" y="3752850"/>
            <a:ext cx="514350" cy="514350"/>
          </a:xfrm>
          <a:prstGeom prst="ellipse">
            <a:avLst/>
          </a:prstGeom>
          <a:solidFill>
            <a:srgbClr val="3FAE68"/>
          </a:solidFill>
          <a:ln cap="flat" cmpd="sng" w="9525">
            <a:solidFill>
              <a:srgbClr val="0F5138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8705850" y="3752850"/>
            <a:ext cx="514350" cy="514350"/>
          </a:xfrm>
          <a:prstGeom prst="ellipse">
            <a:avLst/>
          </a:prstGeom>
          <a:solidFill>
            <a:srgbClr val="3FAE68"/>
          </a:solidFill>
          <a:ln cap="flat" cmpd="sng" w="9525">
            <a:solidFill>
              <a:srgbClr val="0F5138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9772650" y="3752850"/>
            <a:ext cx="514350" cy="514350"/>
          </a:xfrm>
          <a:prstGeom prst="ellipse">
            <a:avLst/>
          </a:prstGeom>
          <a:solidFill>
            <a:srgbClr val="3FAE68"/>
          </a:solidFill>
          <a:ln cap="flat" cmpd="sng" w="9525">
            <a:solidFill>
              <a:srgbClr val="0F5138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6572250" y="4533900"/>
            <a:ext cx="514350" cy="514350"/>
          </a:xfrm>
          <a:prstGeom prst="ellipse">
            <a:avLst/>
          </a:prstGeom>
          <a:solidFill>
            <a:srgbClr val="3FAE68"/>
          </a:solidFill>
          <a:ln cap="flat" cmpd="sng" w="9525">
            <a:solidFill>
              <a:srgbClr val="0F5138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7639050" y="4533900"/>
            <a:ext cx="514350" cy="514350"/>
          </a:xfrm>
          <a:prstGeom prst="ellipse">
            <a:avLst/>
          </a:prstGeom>
          <a:solidFill>
            <a:srgbClr val="E8ECE9"/>
          </a:solidFill>
          <a:ln cap="flat" cmpd="sng" w="9525">
            <a:solidFill>
              <a:srgbClr val="CFE3D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8705850" y="4533900"/>
            <a:ext cx="514350" cy="514350"/>
          </a:xfrm>
          <a:prstGeom prst="ellipse">
            <a:avLst/>
          </a:prstGeom>
          <a:solidFill>
            <a:srgbClr val="E8ECE9"/>
          </a:solidFill>
          <a:ln cap="flat" cmpd="sng" w="9525">
            <a:solidFill>
              <a:srgbClr val="CFE3D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9772650" y="4533900"/>
            <a:ext cx="514350" cy="514350"/>
          </a:xfrm>
          <a:prstGeom prst="ellipse">
            <a:avLst/>
          </a:prstGeom>
          <a:solidFill>
            <a:srgbClr val="E8ECE9"/>
          </a:solidFill>
          <a:ln cap="flat" cmpd="sng" w="9525">
            <a:solidFill>
              <a:srgbClr val="CFE3D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6534150" y="5095875"/>
            <a:ext cx="2095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0F5138"/>
                </a:solidFill>
              </a:rPr>
              <a:t>13 software-enabled</a:t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8858250" y="5095875"/>
            <a:ext cx="1809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62756B"/>
                </a:solidFill>
              </a:rPr>
              <a:t>3 without </a:t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62756B"/>
                </a:solidFill>
              </a:rPr>
              <a:t>Directional field snapshot • 16 pharmacies • </a:t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83D2C"/>
                </a:solidFill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A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/>
          <p:nvPr/>
        </p:nvSpPr>
        <p:spPr>
          <a:xfrm>
            <a:off x="609600" y="3429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FAE68"/>
                </a:solidFill>
              </a:rPr>
              <a:t> PHARMACY SURVEY</a:t>
            </a:r>
            <a:endParaRPr/>
          </a:p>
        </p:txBody>
      </p:sp>
      <p:sp>
        <p:nvSpPr>
          <p:cNvPr id="68" name="Google Shape;68;p6"/>
          <p:cNvSpPr/>
          <p:nvPr/>
        </p:nvSpPr>
        <p:spPr>
          <a:xfrm>
            <a:off x="609600" y="666750"/>
            <a:ext cx="1066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83D2C"/>
                </a:solidFill>
              </a:rPr>
              <a:t>BONIK leads — at a higher price</a:t>
            </a:r>
            <a:endParaRPr/>
          </a:p>
        </p:txBody>
      </p:sp>
      <p:sp>
        <p:nvSpPr>
          <p:cNvPr id="69" name="Google Shape;69;p6"/>
          <p:cNvSpPr/>
          <p:nvPr/>
        </p:nvSpPr>
        <p:spPr>
          <a:xfrm>
            <a:off x="781050" y="1790700"/>
            <a:ext cx="4953000" cy="3714750"/>
          </a:xfrm>
          <a:prstGeom prst="roundRect">
            <a:avLst>
              <a:gd fmla="val 6154" name="adj"/>
            </a:avLst>
          </a:prstGeom>
          <a:solidFill>
            <a:srgbClr val="083D2C"/>
          </a:solidFill>
          <a:ln cap="flat" cmpd="sng" w="9525">
            <a:solidFill>
              <a:srgbClr val="083D2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6"/>
          <p:cNvSpPr/>
          <p:nvPr/>
        </p:nvSpPr>
        <p:spPr>
          <a:xfrm>
            <a:off x="1104900" y="2057400"/>
            <a:ext cx="14287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A8D5B7"/>
                </a:solidFill>
              </a:rPr>
              <a:t>IQRASYS</a:t>
            </a:r>
            <a:endParaRPr/>
          </a:p>
        </p:txBody>
      </p:sp>
      <p:sp>
        <p:nvSpPr>
          <p:cNvPr id="71" name="Google Shape;71;p6"/>
          <p:cNvSpPr/>
          <p:nvPr/>
        </p:nvSpPr>
        <p:spPr>
          <a:xfrm>
            <a:off x="1066800" y="2419350"/>
            <a:ext cx="24765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FFFFFF"/>
                </a:solidFill>
              </a:rPr>
              <a:t>BONIK</a:t>
            </a:r>
            <a:endParaRPr/>
          </a:p>
        </p:txBody>
      </p:sp>
      <p:sp>
        <p:nvSpPr>
          <p:cNvPr id="72" name="Google Shape;72;p6"/>
          <p:cNvSpPr/>
          <p:nvPr/>
        </p:nvSpPr>
        <p:spPr>
          <a:xfrm>
            <a:off x="1066800" y="3105150"/>
            <a:ext cx="31432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D9F0E2"/>
                </a:solidFill>
              </a:rPr>
              <a:t>Observed as more popular</a:t>
            </a:r>
            <a:endParaRPr/>
          </a:p>
        </p:txBody>
      </p:sp>
      <p:sp>
        <p:nvSpPr>
          <p:cNvPr id="73" name="Google Shape;73;p6"/>
          <p:cNvSpPr/>
          <p:nvPr/>
        </p:nvSpPr>
        <p:spPr>
          <a:xfrm>
            <a:off x="1066800" y="3905250"/>
            <a:ext cx="1714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</a:rPr>
              <a:t>70,000</a:t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1066800" y="4457700"/>
            <a:ext cx="142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A8D5B7"/>
                </a:solidFill>
              </a:rPr>
              <a:t>INITIAL</a:t>
            </a:r>
            <a:endParaRPr/>
          </a:p>
        </p:txBody>
      </p:sp>
      <p:sp>
        <p:nvSpPr>
          <p:cNvPr id="75" name="Google Shape;75;p6"/>
          <p:cNvSpPr/>
          <p:nvPr/>
        </p:nvSpPr>
        <p:spPr>
          <a:xfrm>
            <a:off x="3429000" y="3905250"/>
            <a:ext cx="142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FFFFFF"/>
                </a:solidFill>
              </a:rPr>
              <a:t>3,000</a:t>
            </a:r>
            <a:endParaRPr/>
          </a:p>
        </p:txBody>
      </p:sp>
      <p:sp>
        <p:nvSpPr>
          <p:cNvPr id="76" name="Google Shape;76;p6"/>
          <p:cNvSpPr/>
          <p:nvPr/>
        </p:nvSpPr>
        <p:spPr>
          <a:xfrm>
            <a:off x="3429000" y="4457700"/>
            <a:ext cx="142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A8D5B7"/>
                </a:solidFill>
              </a:rPr>
              <a:t>MONTHLY</a:t>
            </a:r>
            <a:endParaRPr/>
          </a:p>
        </p:txBody>
      </p:sp>
      <p:sp>
        <p:nvSpPr>
          <p:cNvPr id="77" name="Google Shape;77;p6"/>
          <p:cNvSpPr/>
          <p:nvPr/>
        </p:nvSpPr>
        <p:spPr>
          <a:xfrm>
            <a:off x="6457950" y="1790700"/>
            <a:ext cx="4953000" cy="3714750"/>
          </a:xfrm>
          <a:prstGeom prst="roundRect">
            <a:avLst>
              <a:gd fmla="val 6154" name="adj"/>
            </a:avLst>
          </a:prstGeom>
          <a:solidFill>
            <a:srgbClr val="FFFFFF"/>
          </a:solidFill>
          <a:ln cap="flat" cmpd="sng" w="9525">
            <a:solidFill>
              <a:srgbClr val="CFE3D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6800850" y="2419350"/>
            <a:ext cx="31432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83D2C"/>
                </a:solidFill>
              </a:rPr>
              <a:t>MEDIASOFT</a:t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6800850" y="3905250"/>
            <a:ext cx="17145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83D2C"/>
                </a:solidFill>
              </a:rPr>
              <a:t>30,000</a:t>
            </a:r>
            <a:endParaRPr/>
          </a:p>
        </p:txBody>
      </p:sp>
      <p:sp>
        <p:nvSpPr>
          <p:cNvPr id="80" name="Google Shape;80;p6"/>
          <p:cNvSpPr/>
          <p:nvPr/>
        </p:nvSpPr>
        <p:spPr>
          <a:xfrm>
            <a:off x="6800850" y="4457700"/>
            <a:ext cx="142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62756B"/>
                </a:solidFill>
              </a:rPr>
              <a:t>INITIAL</a:t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9163050" y="3905250"/>
            <a:ext cx="14287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700">
                <a:solidFill>
                  <a:srgbClr val="083D2C"/>
                </a:solidFill>
              </a:rPr>
              <a:t>2,000</a:t>
            </a:r>
            <a:endParaRPr/>
          </a:p>
        </p:txBody>
      </p:sp>
      <p:sp>
        <p:nvSpPr>
          <p:cNvPr id="82" name="Google Shape;82;p6"/>
          <p:cNvSpPr/>
          <p:nvPr/>
        </p:nvSpPr>
        <p:spPr>
          <a:xfrm>
            <a:off x="9163050" y="4457700"/>
            <a:ext cx="14287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62756B"/>
                </a:solidFill>
              </a:rPr>
              <a:t>MONTHLY</a:t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800100" y="5810250"/>
            <a:ext cx="85725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>
                <a:solidFill>
                  <a:srgbClr val="62756B"/>
                </a:solidFill>
              </a:rPr>
              <a:t>Reported price points from pharmacy visits; currency/unit should be reconfirmed before external use.</a:t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62756B"/>
                </a:solidFill>
              </a:rPr>
              <a:t>Directional field snapshot • 16 pharmacies • </a:t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83D2C"/>
                </a:solidFill>
              </a:rPr>
              <a:t>03</a:t>
            </a:r>
            <a:endParaRPr/>
          </a:p>
        </p:txBody>
      </p:sp>
      <p:pic>
        <p:nvPicPr>
          <p:cNvPr id="86" name="Google Shape;86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1813" y="2286000"/>
            <a:ext cx="149087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25922" y="2457450"/>
            <a:ext cx="1851675" cy="51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7"/>
          <p:cNvSpPr/>
          <p:nvPr/>
        </p:nvSpPr>
        <p:spPr>
          <a:xfrm>
            <a:off x="609600" y="3429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FAE68"/>
                </a:solidFill>
              </a:rPr>
              <a:t> PHARMACY SURVEY</a:t>
            </a:r>
            <a:endParaRPr/>
          </a:p>
        </p:txBody>
      </p:sp>
      <p:sp>
        <p:nvSpPr>
          <p:cNvPr id="94" name="Google Shape;94;p7"/>
          <p:cNvSpPr/>
          <p:nvPr/>
        </p:nvSpPr>
        <p:spPr>
          <a:xfrm>
            <a:off x="609600" y="666750"/>
            <a:ext cx="1066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83D2C"/>
                </a:solidFill>
              </a:rPr>
              <a:t>The real order flow still starts with a shelf visit</a:t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1981200" y="2867025"/>
            <a:ext cx="495300" cy="3238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D5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3943350" y="2867025"/>
            <a:ext cx="495300" cy="3238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D5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5905500" y="2867025"/>
            <a:ext cx="495300" cy="3238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D5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7867650" y="2867025"/>
            <a:ext cx="495300" cy="3238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D5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9829800" y="2867025"/>
            <a:ext cx="495300" cy="3238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D5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495300" y="2343150"/>
            <a:ext cx="1485900" cy="1466850"/>
          </a:xfrm>
          <a:prstGeom prst="roundRect">
            <a:avLst>
              <a:gd fmla="val 15584" name="adj"/>
            </a:avLst>
          </a:prstGeom>
          <a:solidFill>
            <a:srgbClr val="FFFFFF"/>
          </a:solidFill>
          <a:ln cap="flat" cmpd="sng" w="9525">
            <a:solidFill>
              <a:srgbClr val="CFE3D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647700" y="2495550"/>
            <a:ext cx="361950" cy="361950"/>
          </a:xfrm>
          <a:prstGeom prst="ellipse">
            <a:avLst/>
          </a:prstGeom>
          <a:solidFill>
            <a:srgbClr val="3FAE68"/>
          </a:solidFill>
          <a:ln>
            <a:noFill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714375" y="257175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</a:rPr>
              <a:t>1</a:t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647700" y="3048000"/>
            <a:ext cx="1181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83D2C"/>
                </a:solidFill>
              </a:rPr>
              <a:t>SR arrives</a:t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647700" y="3352800"/>
            <a:ext cx="118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2756B"/>
                </a:solidFill>
              </a:rPr>
              <a:t>at night</a:t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2457450" y="2343150"/>
            <a:ext cx="1485900" cy="1466850"/>
          </a:xfrm>
          <a:prstGeom prst="roundRect">
            <a:avLst>
              <a:gd fmla="val 15584" name="adj"/>
            </a:avLst>
          </a:prstGeom>
          <a:solidFill>
            <a:srgbClr val="FFFFFF"/>
          </a:solidFill>
          <a:ln cap="flat" cmpd="sng" w="9525">
            <a:solidFill>
              <a:srgbClr val="CFE3D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2609850" y="2495550"/>
            <a:ext cx="361950" cy="361950"/>
          </a:xfrm>
          <a:prstGeom prst="ellipse">
            <a:avLst/>
          </a:prstGeom>
          <a:solidFill>
            <a:srgbClr val="3FAE68"/>
          </a:solidFill>
          <a:ln>
            <a:noFill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2676525" y="257175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</a:rPr>
              <a:t>2</a:t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2609850" y="3048000"/>
            <a:ext cx="1181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83D2C"/>
                </a:solidFill>
              </a:rPr>
              <a:t>Shelves</a:t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2609850" y="3352800"/>
            <a:ext cx="118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2756B"/>
                </a:solidFill>
              </a:rPr>
              <a:t>checked</a:t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4419600" y="2343150"/>
            <a:ext cx="1485900" cy="1466850"/>
          </a:xfrm>
          <a:prstGeom prst="roundRect">
            <a:avLst>
              <a:gd fmla="val 15584" name="adj"/>
            </a:avLst>
          </a:prstGeom>
          <a:solidFill>
            <a:srgbClr val="D9F0E2"/>
          </a:solidFill>
          <a:ln cap="flat" cmpd="sng" w="9525">
            <a:solidFill>
              <a:srgbClr val="CFE3D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4572000" y="2495550"/>
            <a:ext cx="361950" cy="361950"/>
          </a:xfrm>
          <a:prstGeom prst="ellipse">
            <a:avLst/>
          </a:prstGeom>
          <a:solidFill>
            <a:srgbClr val="083D2C"/>
          </a:solidFill>
          <a:ln>
            <a:noFill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4638675" y="257175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</a:rPr>
              <a:t>3</a:t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4572000" y="3048000"/>
            <a:ext cx="1181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83D2C"/>
                </a:solidFill>
              </a:rPr>
              <a:t>Reminders</a:t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4572000" y="3352800"/>
            <a:ext cx="118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2756B"/>
                </a:solidFill>
              </a:rPr>
              <a:t>+ order</a:t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6381750" y="2343150"/>
            <a:ext cx="1485900" cy="1466850"/>
          </a:xfrm>
          <a:prstGeom prst="roundRect">
            <a:avLst>
              <a:gd fmla="val 15584" name="adj"/>
            </a:avLst>
          </a:prstGeom>
          <a:solidFill>
            <a:srgbClr val="FFFFFF"/>
          </a:solidFill>
          <a:ln cap="flat" cmpd="sng" w="9525">
            <a:solidFill>
              <a:srgbClr val="CFE3D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6534150" y="2495550"/>
            <a:ext cx="361950" cy="361950"/>
          </a:xfrm>
          <a:prstGeom prst="ellipse">
            <a:avLst/>
          </a:prstGeom>
          <a:solidFill>
            <a:srgbClr val="3FAE68"/>
          </a:solidFill>
          <a:ln>
            <a:noFill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6600825" y="257175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</a:rPr>
              <a:t>4</a:t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6534150" y="3048000"/>
            <a:ext cx="1181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83D2C"/>
                </a:solidFill>
              </a:rPr>
              <a:t>Big khata</a:t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6534150" y="3352800"/>
            <a:ext cx="118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2756B"/>
                </a:solidFill>
              </a:rPr>
              <a:t>records it</a:t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8343900" y="2343150"/>
            <a:ext cx="1485900" cy="1466850"/>
          </a:xfrm>
          <a:prstGeom prst="roundRect">
            <a:avLst>
              <a:gd fmla="val 15584" name="adj"/>
            </a:avLst>
          </a:prstGeom>
          <a:solidFill>
            <a:srgbClr val="FFFFFF"/>
          </a:solidFill>
          <a:ln cap="flat" cmpd="sng" w="9525">
            <a:solidFill>
              <a:srgbClr val="CFE3D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7"/>
          <p:cNvSpPr/>
          <p:nvPr/>
        </p:nvSpPr>
        <p:spPr>
          <a:xfrm>
            <a:off x="8496300" y="2495550"/>
            <a:ext cx="361950" cy="361950"/>
          </a:xfrm>
          <a:prstGeom prst="ellipse">
            <a:avLst/>
          </a:prstGeom>
          <a:solidFill>
            <a:srgbClr val="3FAE68"/>
          </a:solidFill>
          <a:ln>
            <a:noFill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8562975" y="257175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</a:rPr>
              <a:t>5</a:t>
            </a:r>
            <a:endParaRPr/>
          </a:p>
        </p:txBody>
      </p:sp>
      <p:sp>
        <p:nvSpPr>
          <p:cNvPr id="123" name="Google Shape;123;p7"/>
          <p:cNvSpPr/>
          <p:nvPr/>
        </p:nvSpPr>
        <p:spPr>
          <a:xfrm>
            <a:off x="8496300" y="3048000"/>
            <a:ext cx="1181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83D2C"/>
                </a:solidFill>
              </a:rPr>
              <a:t>Delivery</a:t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8496300" y="3352800"/>
            <a:ext cx="118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2756B"/>
                </a:solidFill>
              </a:rPr>
              <a:t>next day</a:t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10306050" y="2343150"/>
            <a:ext cx="1485900" cy="1466850"/>
          </a:xfrm>
          <a:prstGeom prst="roundRect">
            <a:avLst>
              <a:gd fmla="val 15584" name="adj"/>
            </a:avLst>
          </a:prstGeom>
          <a:solidFill>
            <a:srgbClr val="FFFFFF"/>
          </a:solidFill>
          <a:ln cap="flat" cmpd="sng" w="9525">
            <a:solidFill>
              <a:srgbClr val="CFE3D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10458450" y="2495550"/>
            <a:ext cx="361950" cy="361950"/>
          </a:xfrm>
          <a:prstGeom prst="ellipse">
            <a:avLst/>
          </a:prstGeom>
          <a:solidFill>
            <a:srgbClr val="3FAE68"/>
          </a:solidFill>
          <a:ln>
            <a:noFill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7"/>
          <p:cNvSpPr/>
          <p:nvPr/>
        </p:nvSpPr>
        <p:spPr>
          <a:xfrm>
            <a:off x="10525125" y="2571750"/>
            <a:ext cx="2286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FFFFFF"/>
                </a:solidFill>
              </a:rPr>
              <a:t>6</a:t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10458450" y="3048000"/>
            <a:ext cx="11811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083D2C"/>
                </a:solidFill>
              </a:rPr>
              <a:t>Hard cash</a:t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10458450" y="3352800"/>
            <a:ext cx="11811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2756B"/>
                </a:solidFill>
              </a:rPr>
              <a:t>settles</a:t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2095500" y="4572000"/>
            <a:ext cx="8001000" cy="819150"/>
          </a:xfrm>
          <a:prstGeom prst="roundRect">
            <a:avLst>
              <a:gd fmla="val 27907" name="adj"/>
            </a:avLst>
          </a:prstGeom>
          <a:solidFill>
            <a:srgbClr val="EAF7EF"/>
          </a:solidFill>
          <a:ln>
            <a:noFill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2552700" y="4810125"/>
            <a:ext cx="7086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83D2C"/>
                </a:solidFill>
              </a:rPr>
              <a:t>Entry specialists work across 3–4 pharmacies in parallel</a:t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62756B"/>
                </a:solidFill>
              </a:rPr>
              <a:t>Directional field snapshot • 16 pharmacies • </a:t>
            </a:r>
            <a:endParaRPr/>
          </a:p>
        </p:txBody>
      </p:sp>
      <p:sp>
        <p:nvSpPr>
          <p:cNvPr id="133" name="Google Shape;133;p7"/>
          <p:cNvSpPr/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83D2C"/>
                </a:solidFill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A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8"/>
          <p:cNvPicPr preferRelativeResize="0"/>
          <p:nvPr/>
        </p:nvPicPr>
        <p:blipFill rotWithShape="1">
          <a:blip r:embed="rId3">
            <a:alphaModFix/>
          </a:blip>
          <a:srcRect b="27" l="0" r="0" t="27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8"/>
          <p:cNvSpPr/>
          <p:nvPr/>
        </p:nvSpPr>
        <p:spPr>
          <a:xfrm>
            <a:off x="590550" y="704850"/>
            <a:ext cx="4476750" cy="5219700"/>
          </a:xfrm>
          <a:prstGeom prst="roundRect">
            <a:avLst>
              <a:gd fmla="val 5106" name="adj"/>
            </a:avLst>
          </a:prstGeom>
          <a:solidFill>
            <a:srgbClr val="FFFFFF"/>
          </a:solidFill>
          <a:ln cap="flat" cmpd="sng" w="9525">
            <a:solidFill>
              <a:srgbClr val="CFE3D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933450" y="1028700"/>
            <a:ext cx="2667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FAE68"/>
                </a:solidFill>
              </a:rPr>
              <a:t>THE HUMAN LAYER</a:t>
            </a:r>
            <a:endParaRPr/>
          </a:p>
        </p:txBody>
      </p:sp>
      <p:sp>
        <p:nvSpPr>
          <p:cNvPr id="142" name="Google Shape;142;p8"/>
          <p:cNvSpPr/>
          <p:nvPr/>
        </p:nvSpPr>
        <p:spPr>
          <a:xfrm>
            <a:off x="933450" y="1409700"/>
            <a:ext cx="3619500" cy="12001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83D2C"/>
                </a:solidFill>
              </a:rPr>
              <a:t>The SR is the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50">
                <a:solidFill>
                  <a:srgbClr val="083D2C"/>
                </a:solidFill>
              </a:rPr>
              <a:t>night-time procurement interface</a:t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952500" y="3105150"/>
            <a:ext cx="457200" cy="457200"/>
          </a:xfrm>
          <a:prstGeom prst="ellipse">
            <a:avLst/>
          </a:prstGeom>
          <a:solidFill>
            <a:srgbClr val="3FAE68"/>
          </a:solidFill>
          <a:ln>
            <a:noFill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"/>
          <p:cNvSpPr/>
          <p:nvPr/>
        </p:nvSpPr>
        <p:spPr>
          <a:xfrm>
            <a:off x="1085850" y="321945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1</a:t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1600200" y="3181350"/>
            <a:ext cx="257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43A2B"/>
                </a:solidFill>
              </a:rPr>
              <a:t>Sees the shelves</a:t>
            </a:r>
            <a:endParaRPr/>
          </a:p>
        </p:txBody>
      </p:sp>
      <p:sp>
        <p:nvSpPr>
          <p:cNvPr id="146" name="Google Shape;146;p8"/>
          <p:cNvSpPr/>
          <p:nvPr/>
        </p:nvSpPr>
        <p:spPr>
          <a:xfrm>
            <a:off x="952500" y="3848100"/>
            <a:ext cx="457200" cy="457200"/>
          </a:xfrm>
          <a:prstGeom prst="ellipse">
            <a:avLst/>
          </a:prstGeom>
          <a:solidFill>
            <a:srgbClr val="3FAE68"/>
          </a:solidFill>
          <a:ln>
            <a:noFill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1085850" y="39624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2</a:t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1600200" y="3924300"/>
            <a:ext cx="257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43A2B"/>
                </a:solidFill>
              </a:rPr>
              <a:t>Gives reminders</a:t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952500" y="4591050"/>
            <a:ext cx="457200" cy="457200"/>
          </a:xfrm>
          <a:prstGeom prst="ellipse">
            <a:avLst/>
          </a:prstGeom>
          <a:solidFill>
            <a:srgbClr val="083D2C"/>
          </a:solidFill>
          <a:ln>
            <a:noFill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1085850" y="470535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FFFFFF"/>
                </a:solidFill>
              </a:rPr>
              <a:t>3</a:t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1600200" y="4667250"/>
            <a:ext cx="2571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143A2B"/>
                </a:solidFill>
              </a:rPr>
              <a:t>Takes the order</a:t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933450" y="5429250"/>
            <a:ext cx="3619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62756B"/>
                </a:solidFill>
              </a:rPr>
              <a:t>Software sits inside a relationship-led buying process.</a:t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11353800" y="6438900"/>
            <a:ext cx="47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FFFFFF"/>
                </a:solidFill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A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9" name="Google Shape;159;p9"/>
          <p:cNvPicPr preferRelativeResize="0"/>
          <p:nvPr/>
        </p:nvPicPr>
        <p:blipFill rotWithShape="1">
          <a:blip r:embed="rId3">
            <a:alphaModFix/>
          </a:blip>
          <a:srcRect b="7813" l="0" r="0" t="7813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9"/>
          <p:cNvSpPr/>
          <p:nvPr/>
        </p:nvSpPr>
        <p:spPr>
          <a:xfrm>
            <a:off x="7524750" y="685800"/>
            <a:ext cx="4095750" cy="5429250"/>
          </a:xfrm>
          <a:prstGeom prst="roundRect">
            <a:avLst>
              <a:gd fmla="val 5581" name="adj"/>
            </a:avLst>
          </a:prstGeom>
          <a:solidFill>
            <a:srgbClr val="FFFFFF"/>
          </a:solidFill>
          <a:ln cap="flat" cmpd="sng" w="9525">
            <a:solidFill>
              <a:srgbClr val="CFE3D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9"/>
          <p:cNvSpPr/>
          <p:nvPr/>
        </p:nvSpPr>
        <p:spPr>
          <a:xfrm>
            <a:off x="7905750" y="1047750"/>
            <a:ext cx="28575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FAE68"/>
                </a:solidFill>
              </a:rPr>
              <a:t>THE OPERATING SYSTEM</a:t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7905750" y="1447800"/>
            <a:ext cx="314325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150">
                <a:solidFill>
                  <a:srgbClr val="083D2C"/>
                </a:solidFill>
              </a:rPr>
              <a:t>Khata + software + cash</a:t>
            </a:r>
            <a:endParaRPr/>
          </a:p>
        </p:txBody>
      </p:sp>
      <p:sp>
        <p:nvSpPr>
          <p:cNvPr id="163" name="Google Shape;163;p9"/>
          <p:cNvSpPr/>
          <p:nvPr/>
        </p:nvSpPr>
        <p:spPr>
          <a:xfrm>
            <a:off x="7924800" y="2914650"/>
            <a:ext cx="438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FAE68"/>
                </a:solidFill>
              </a:rPr>
              <a:t>01</a:t>
            </a:r>
            <a:endParaRPr/>
          </a:p>
        </p:txBody>
      </p:sp>
      <p:sp>
        <p:nvSpPr>
          <p:cNvPr id="164" name="Google Shape;164;p9"/>
          <p:cNvSpPr/>
          <p:nvPr/>
        </p:nvSpPr>
        <p:spPr>
          <a:xfrm>
            <a:off x="8439150" y="28575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3A2B"/>
                </a:solidFill>
              </a:rPr>
              <a:t>Khata captures the order</a:t>
            </a:r>
            <a:endParaRPr/>
          </a:p>
        </p:txBody>
      </p:sp>
      <p:sp>
        <p:nvSpPr>
          <p:cNvPr id="165" name="Google Shape;165;p9"/>
          <p:cNvSpPr/>
          <p:nvPr/>
        </p:nvSpPr>
        <p:spPr>
          <a:xfrm>
            <a:off x="7924800" y="3695700"/>
            <a:ext cx="438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FAE68"/>
                </a:solidFill>
              </a:rPr>
              <a:t>02</a:t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8439150" y="363855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3A2B"/>
                </a:solidFill>
              </a:rPr>
              <a:t>Software records the business</a:t>
            </a:r>
            <a:endParaRPr/>
          </a:p>
        </p:txBody>
      </p:sp>
      <p:sp>
        <p:nvSpPr>
          <p:cNvPr id="167" name="Google Shape;167;p9"/>
          <p:cNvSpPr/>
          <p:nvPr/>
        </p:nvSpPr>
        <p:spPr>
          <a:xfrm>
            <a:off x="7924800" y="4476750"/>
            <a:ext cx="438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FAE68"/>
                </a:solidFill>
              </a:rPr>
              <a:t>03</a:t>
            </a:r>
            <a:endParaRPr/>
          </a:p>
        </p:txBody>
      </p:sp>
      <p:sp>
        <p:nvSpPr>
          <p:cNvPr id="168" name="Google Shape;168;p9"/>
          <p:cNvSpPr/>
          <p:nvPr/>
        </p:nvSpPr>
        <p:spPr>
          <a:xfrm>
            <a:off x="8439150" y="4419600"/>
            <a:ext cx="27241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143A2B"/>
                </a:solidFill>
              </a:rPr>
              <a:t>Cash closes the transaction</a:t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7905750" y="5391150"/>
            <a:ext cx="3143250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62756B"/>
                </a:solidFill>
              </a:rPr>
              <a:t>Digitization has not removed the analogue workflow — it sits beside it.</a:t>
            </a:r>
            <a:endParaRPr/>
          </a:p>
        </p:txBody>
      </p:sp>
      <p:sp>
        <p:nvSpPr>
          <p:cNvPr id="170" name="Google Shape;170;p9"/>
          <p:cNvSpPr/>
          <p:nvPr/>
        </p:nvSpPr>
        <p:spPr>
          <a:xfrm>
            <a:off x="10991850" y="5791200"/>
            <a:ext cx="47625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083D2C"/>
                </a:solidFill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A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/>
          <p:nvPr/>
        </p:nvSpPr>
        <p:spPr>
          <a:xfrm>
            <a:off x="609600" y="3429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FAE68"/>
                </a:solidFill>
              </a:rPr>
              <a:t> PHARMACY SURVEY</a:t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609600" y="666750"/>
            <a:ext cx="1066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83D2C"/>
                </a:solidFill>
              </a:rPr>
              <a:t>BONIK extends from POS into B2B ordering</a:t>
            </a:r>
            <a:endParaRPr/>
          </a:p>
        </p:txBody>
      </p:sp>
      <p:sp>
        <p:nvSpPr>
          <p:cNvPr id="178" name="Google Shape;178;p10"/>
          <p:cNvSpPr/>
          <p:nvPr/>
        </p:nvSpPr>
        <p:spPr>
          <a:xfrm>
            <a:off x="3162300" y="2952750"/>
            <a:ext cx="1181100" cy="4381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D5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0"/>
          <p:cNvSpPr/>
          <p:nvPr/>
        </p:nvSpPr>
        <p:spPr>
          <a:xfrm>
            <a:off x="7810500" y="2952750"/>
            <a:ext cx="1181100" cy="43815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D5B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0"/>
          <p:cNvSpPr/>
          <p:nvPr/>
        </p:nvSpPr>
        <p:spPr>
          <a:xfrm>
            <a:off x="3390900" y="4629150"/>
            <a:ext cx="5486400" cy="419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3FAE6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762000" y="2266950"/>
            <a:ext cx="2476500" cy="1809750"/>
          </a:xfrm>
          <a:prstGeom prst="roundRect">
            <a:avLst>
              <a:gd fmla="val 12632" name="adj"/>
            </a:avLst>
          </a:prstGeom>
          <a:solidFill>
            <a:srgbClr val="FFFFFF"/>
          </a:solidFill>
          <a:ln cap="flat" cmpd="sng" w="9525">
            <a:solidFill>
              <a:srgbClr val="CFE3D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0"/>
          <p:cNvSpPr/>
          <p:nvPr/>
        </p:nvSpPr>
        <p:spPr>
          <a:xfrm>
            <a:off x="1066800" y="2857500"/>
            <a:ext cx="1866900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083D2C"/>
                </a:solidFill>
              </a:rPr>
              <a:t>PHARMACY</a:t>
            </a:r>
            <a:endParaRPr/>
          </a:p>
        </p:txBody>
      </p:sp>
      <p:sp>
        <p:nvSpPr>
          <p:cNvPr id="183" name="Google Shape;183;p10"/>
          <p:cNvSpPr/>
          <p:nvPr/>
        </p:nvSpPr>
        <p:spPr>
          <a:xfrm>
            <a:off x="1066800" y="3314700"/>
            <a:ext cx="1866900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>
                <a:solidFill>
                  <a:srgbClr val="62756B"/>
                </a:solidFill>
              </a:rPr>
              <a:t>places the order</a:t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4381500" y="2038350"/>
            <a:ext cx="3429000" cy="2266950"/>
          </a:xfrm>
          <a:prstGeom prst="roundRect">
            <a:avLst>
              <a:gd fmla="val 10084" name="adj"/>
            </a:avLst>
          </a:prstGeom>
          <a:solidFill>
            <a:srgbClr val="083D2C"/>
          </a:solidFill>
          <a:ln cap="flat" cmpd="sng" w="9525">
            <a:solidFill>
              <a:srgbClr val="083D2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0"/>
          <p:cNvSpPr/>
          <p:nvPr/>
        </p:nvSpPr>
        <p:spPr>
          <a:xfrm>
            <a:off x="4762500" y="2381250"/>
            <a:ext cx="12382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A8D5B7"/>
                </a:solidFill>
              </a:rPr>
              <a:t>IQRASYS</a:t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4762500" y="2762250"/>
            <a:ext cx="2286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FFFFFF"/>
                </a:solidFill>
              </a:rPr>
              <a:t>BONIK</a:t>
            </a:r>
            <a:endParaRPr/>
          </a:p>
        </p:txBody>
      </p:sp>
      <p:sp>
        <p:nvSpPr>
          <p:cNvPr id="187" name="Google Shape;187;p10"/>
          <p:cNvSpPr/>
          <p:nvPr/>
        </p:nvSpPr>
        <p:spPr>
          <a:xfrm>
            <a:off x="4762500" y="3409950"/>
            <a:ext cx="2362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25">
                <a:solidFill>
                  <a:srgbClr val="D9F0E2"/>
                </a:solidFill>
              </a:rPr>
              <a:t>B2B ordering layer</a:t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9029700" y="2266950"/>
            <a:ext cx="2476500" cy="1809750"/>
          </a:xfrm>
          <a:prstGeom prst="roundRect">
            <a:avLst>
              <a:gd fmla="val 12632" name="adj"/>
            </a:avLst>
          </a:prstGeom>
          <a:solidFill>
            <a:srgbClr val="FFFFFF"/>
          </a:solidFill>
          <a:ln cap="flat" cmpd="sng" w="9525">
            <a:solidFill>
              <a:srgbClr val="CFE3D6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0"/>
          <p:cNvSpPr/>
          <p:nvPr/>
        </p:nvSpPr>
        <p:spPr>
          <a:xfrm>
            <a:off x="9334500" y="2743200"/>
            <a:ext cx="18669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75">
                <a:solidFill>
                  <a:srgbClr val="083D2C"/>
                </a:solidFill>
              </a:rPr>
              <a:t>ANCHOR /</a:t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9258300" y="3143250"/>
            <a:ext cx="20193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75">
                <a:solidFill>
                  <a:srgbClr val="083D2C"/>
                </a:solidFill>
              </a:rPr>
              <a:t>MANUFACTURER</a:t>
            </a:r>
            <a:endParaRPr/>
          </a:p>
        </p:txBody>
      </p:sp>
      <p:sp>
        <p:nvSpPr>
          <p:cNvPr id="191" name="Google Shape;191;p10"/>
          <p:cNvSpPr/>
          <p:nvPr/>
        </p:nvSpPr>
        <p:spPr>
          <a:xfrm>
            <a:off x="3429000" y="2619375"/>
            <a:ext cx="857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62756B"/>
                </a:solidFill>
              </a:rPr>
              <a:t>ORDER</a:t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7981950" y="2619375"/>
            <a:ext cx="85725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75">
                <a:solidFill>
                  <a:srgbClr val="62756B"/>
                </a:solidFill>
              </a:rPr>
              <a:t>ORDER</a:t>
            </a:r>
            <a:endParaRPr/>
          </a:p>
        </p:txBody>
      </p:sp>
      <p:sp>
        <p:nvSpPr>
          <p:cNvPr id="193" name="Google Shape;193;p10"/>
          <p:cNvSpPr/>
          <p:nvPr/>
        </p:nvSpPr>
        <p:spPr>
          <a:xfrm>
            <a:off x="4705350" y="4724400"/>
            <a:ext cx="3048000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FFFFFF"/>
                </a:solidFill>
              </a:rPr>
              <a:t>DELIVERY IS DONE BY ANCHOR</a:t>
            </a:r>
            <a:endParaRPr/>
          </a:p>
        </p:txBody>
      </p:sp>
      <p:sp>
        <p:nvSpPr>
          <p:cNvPr id="194" name="Google Shape;194;p10"/>
          <p:cNvSpPr/>
          <p:nvPr/>
        </p:nvSpPr>
        <p:spPr>
          <a:xfrm>
            <a:off x="3476625" y="5372100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>
                <a:solidFill>
                  <a:srgbClr val="62756B"/>
                </a:solidFill>
              </a:rPr>
              <a:t>Settlement mechanism was not confirmed in the field note.</a:t>
            </a:r>
            <a:endParaRPr/>
          </a:p>
        </p:txBody>
      </p:sp>
      <p:sp>
        <p:nvSpPr>
          <p:cNvPr id="195" name="Google Shape;195;p10"/>
          <p:cNvSpPr/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62756B"/>
                </a:solidFill>
              </a:rPr>
              <a:t>Directional field snapshot • 16 pharmacies • </a:t>
            </a:r>
            <a:endParaRPr/>
          </a:p>
        </p:txBody>
      </p:sp>
      <p:sp>
        <p:nvSpPr>
          <p:cNvPr id="196" name="Google Shape;196;p10"/>
          <p:cNvSpPr/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83D2C"/>
                </a:solidFill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A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/>
          <p:nvPr/>
        </p:nvSpPr>
        <p:spPr>
          <a:xfrm>
            <a:off x="609600" y="3429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FAE68"/>
                </a:solidFill>
              </a:rPr>
              <a:t> PHARMACY SURVEY</a:t>
            </a:r>
            <a:endParaRPr/>
          </a:p>
        </p:txBody>
      </p:sp>
      <p:sp>
        <p:nvSpPr>
          <p:cNvPr id="203" name="Google Shape;203;p11"/>
          <p:cNvSpPr/>
          <p:nvPr/>
        </p:nvSpPr>
        <p:spPr>
          <a:xfrm>
            <a:off x="609600" y="666750"/>
            <a:ext cx="1066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83D2C"/>
                </a:solidFill>
              </a:rPr>
              <a:t>Adoption is not explained by price alone</a:t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914400" y="1828800"/>
            <a:ext cx="4629150" cy="3333750"/>
          </a:xfrm>
          <a:prstGeom prst="roundRect">
            <a:avLst>
              <a:gd fmla="val 6857" name="adj"/>
            </a:avLst>
          </a:prstGeom>
          <a:solidFill>
            <a:srgbClr val="EAF7EF"/>
          </a:solidFill>
          <a:ln>
            <a:noFill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1"/>
          <p:cNvSpPr/>
          <p:nvPr/>
        </p:nvSpPr>
        <p:spPr>
          <a:xfrm>
            <a:off x="1352550" y="2362200"/>
            <a:ext cx="2857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150">
                <a:solidFill>
                  <a:srgbClr val="083D2C"/>
                </a:solidFill>
              </a:rPr>
              <a:t>2.3×</a:t>
            </a:r>
            <a:endParaRPr/>
          </a:p>
        </p:txBody>
      </p:sp>
      <p:sp>
        <p:nvSpPr>
          <p:cNvPr id="206" name="Google Shape;206;p11"/>
          <p:cNvSpPr/>
          <p:nvPr/>
        </p:nvSpPr>
        <p:spPr>
          <a:xfrm>
            <a:off x="1371600" y="3562350"/>
            <a:ext cx="2857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143A2B"/>
                </a:solidFill>
              </a:rPr>
              <a:t>higher initial price</a:t>
            </a:r>
            <a:endParaRPr/>
          </a:p>
        </p:txBody>
      </p:sp>
      <p:sp>
        <p:nvSpPr>
          <p:cNvPr id="207" name="Google Shape;207;p11"/>
          <p:cNvSpPr/>
          <p:nvPr/>
        </p:nvSpPr>
        <p:spPr>
          <a:xfrm>
            <a:off x="1371600" y="4057650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2756B"/>
                </a:solidFill>
              </a:rPr>
              <a:t>70,000 vs 30,000</a:t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6648450" y="1828800"/>
            <a:ext cx="4629150" cy="3333750"/>
          </a:xfrm>
          <a:prstGeom prst="roundRect">
            <a:avLst>
              <a:gd fmla="val 6857" name="adj"/>
            </a:avLst>
          </a:prstGeom>
          <a:solidFill>
            <a:srgbClr val="083D2C"/>
          </a:solidFill>
          <a:ln cap="flat" cmpd="sng" w="9525">
            <a:solidFill>
              <a:srgbClr val="083D2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1"/>
          <p:cNvSpPr/>
          <p:nvPr/>
        </p:nvSpPr>
        <p:spPr>
          <a:xfrm>
            <a:off x="7086600" y="2362200"/>
            <a:ext cx="28575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150">
                <a:solidFill>
                  <a:srgbClr val="FFFFFF"/>
                </a:solidFill>
              </a:rPr>
              <a:t>1.5×</a:t>
            </a:r>
            <a:endParaRPr/>
          </a:p>
        </p:txBody>
      </p:sp>
      <p:sp>
        <p:nvSpPr>
          <p:cNvPr id="210" name="Google Shape;210;p11"/>
          <p:cNvSpPr/>
          <p:nvPr/>
        </p:nvSpPr>
        <p:spPr>
          <a:xfrm>
            <a:off x="7105650" y="3562350"/>
            <a:ext cx="3238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D9F0E2"/>
                </a:solidFill>
              </a:rPr>
              <a:t>higher monthly price</a:t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7105650" y="4057650"/>
            <a:ext cx="28575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A8D5B7"/>
                </a:solidFill>
              </a:rPr>
              <a:t>3,000 vs 2,000</a:t>
            </a:r>
            <a:endParaRPr/>
          </a:p>
        </p:txBody>
      </p:sp>
      <p:sp>
        <p:nvSpPr>
          <p:cNvPr id="212" name="Google Shape;212;p11"/>
          <p:cNvSpPr/>
          <p:nvPr/>
        </p:nvSpPr>
        <p:spPr>
          <a:xfrm>
            <a:off x="1581150" y="5562600"/>
            <a:ext cx="902970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50">
                <a:solidFill>
                  <a:srgbClr val="083D2C"/>
                </a:solidFill>
              </a:rPr>
              <a:t>BONIK was still observed as more popular — workflow, support or distribution access may matter more than price.</a:t>
            </a:r>
            <a:endParaRPr/>
          </a:p>
        </p:txBody>
      </p:sp>
      <p:sp>
        <p:nvSpPr>
          <p:cNvPr id="213" name="Google Shape;213;p11"/>
          <p:cNvSpPr/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62756B"/>
                </a:solidFill>
              </a:rPr>
              <a:t>Directional field snapshot • 16 pharmacies • </a:t>
            </a:r>
            <a:endParaRPr/>
          </a:p>
        </p:txBody>
      </p:sp>
      <p:sp>
        <p:nvSpPr>
          <p:cNvPr id="214" name="Google Shape;214;p11"/>
          <p:cNvSpPr/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83D2C"/>
                </a:solidFill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A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2"/>
          <p:cNvSpPr/>
          <p:nvPr/>
        </p:nvSpPr>
        <p:spPr>
          <a:xfrm>
            <a:off x="609600" y="342900"/>
            <a:ext cx="533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50">
                <a:solidFill>
                  <a:srgbClr val="3FAE68"/>
                </a:solidFill>
              </a:rPr>
              <a:t> PHARMACY SURVEY</a:t>
            </a:r>
            <a:endParaRPr/>
          </a:p>
        </p:txBody>
      </p:sp>
      <p:sp>
        <p:nvSpPr>
          <p:cNvPr id="221" name="Google Shape;221;p12"/>
          <p:cNvSpPr/>
          <p:nvPr/>
        </p:nvSpPr>
        <p:spPr>
          <a:xfrm>
            <a:off x="609600" y="666750"/>
            <a:ext cx="10668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083D2C"/>
                </a:solidFill>
              </a:rPr>
              <a:t>Design for the workflow that already exists</a:t>
            </a:r>
            <a:endParaRPr/>
          </a:p>
        </p:txBody>
      </p:sp>
      <p:sp>
        <p:nvSpPr>
          <p:cNvPr id="222" name="Google Shape;222;p12"/>
          <p:cNvSpPr/>
          <p:nvPr/>
        </p:nvSpPr>
        <p:spPr>
          <a:xfrm>
            <a:off x="876300" y="1809750"/>
            <a:ext cx="742950" cy="742950"/>
          </a:xfrm>
          <a:prstGeom prst="ellipse">
            <a:avLst/>
          </a:prstGeom>
          <a:solidFill>
            <a:srgbClr val="3FAE68"/>
          </a:solidFill>
          <a:ln>
            <a:noFill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2"/>
          <p:cNvSpPr/>
          <p:nvPr/>
        </p:nvSpPr>
        <p:spPr>
          <a:xfrm>
            <a:off x="1047750" y="2047875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01</a:t>
            </a: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2000250" y="1790700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83D2C"/>
                </a:solidFill>
              </a:rPr>
              <a:t>Human-assisted ordering</a:t>
            </a:r>
            <a:endParaRPr/>
          </a:p>
        </p:txBody>
      </p:sp>
      <p:sp>
        <p:nvSpPr>
          <p:cNvPr id="225" name="Google Shape;225;p12"/>
          <p:cNvSpPr/>
          <p:nvPr/>
        </p:nvSpPr>
        <p:spPr>
          <a:xfrm>
            <a:off x="2000250" y="2228850"/>
            <a:ext cx="7429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2756B"/>
                </a:solidFill>
              </a:rPr>
              <a:t>Support the SR and entry specialist instead of assuming self-serve.</a:t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876300" y="3028950"/>
            <a:ext cx="742950" cy="742950"/>
          </a:xfrm>
          <a:prstGeom prst="ellipse">
            <a:avLst/>
          </a:prstGeom>
          <a:solidFill>
            <a:srgbClr val="3FAE68"/>
          </a:solidFill>
          <a:ln>
            <a:noFill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2"/>
          <p:cNvSpPr/>
          <p:nvPr/>
        </p:nvSpPr>
        <p:spPr>
          <a:xfrm>
            <a:off x="1047750" y="3267075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02</a:t>
            </a:r>
            <a:endParaRPr/>
          </a:p>
        </p:txBody>
      </p:sp>
      <p:sp>
        <p:nvSpPr>
          <p:cNvPr id="228" name="Google Shape;228;p12"/>
          <p:cNvSpPr/>
          <p:nvPr/>
        </p:nvSpPr>
        <p:spPr>
          <a:xfrm>
            <a:off x="2000250" y="3009900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83D2C"/>
                </a:solidFill>
              </a:rPr>
              <a:t>Khata-to-system continuity</a:t>
            </a:r>
            <a:endParaRPr/>
          </a:p>
        </p:txBody>
      </p:sp>
      <p:sp>
        <p:nvSpPr>
          <p:cNvPr id="229" name="Google Shape;229;p12"/>
          <p:cNvSpPr/>
          <p:nvPr/>
        </p:nvSpPr>
        <p:spPr>
          <a:xfrm>
            <a:off x="2000250" y="3448050"/>
            <a:ext cx="7429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2756B"/>
                </a:solidFill>
              </a:rPr>
              <a:t>Make order capture and reconciliation work across paper and software.</a:t>
            </a: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876300" y="4248150"/>
            <a:ext cx="742950" cy="742950"/>
          </a:xfrm>
          <a:prstGeom prst="ellipse">
            <a:avLst/>
          </a:prstGeom>
          <a:solidFill>
            <a:srgbClr val="083D2C"/>
          </a:solidFill>
          <a:ln>
            <a:noFill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2"/>
          <p:cNvSpPr/>
          <p:nvPr/>
        </p:nvSpPr>
        <p:spPr>
          <a:xfrm>
            <a:off x="1047750" y="4486275"/>
            <a:ext cx="4000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50">
                <a:solidFill>
                  <a:srgbClr val="FFFFFF"/>
                </a:solidFill>
              </a:rPr>
              <a:t>03</a:t>
            </a:r>
            <a:endParaRPr/>
          </a:p>
        </p:txBody>
      </p:sp>
      <p:sp>
        <p:nvSpPr>
          <p:cNvPr id="232" name="Google Shape;232;p12"/>
          <p:cNvSpPr/>
          <p:nvPr/>
        </p:nvSpPr>
        <p:spPr>
          <a:xfrm>
            <a:off x="2000250" y="4229100"/>
            <a:ext cx="40005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50">
                <a:solidFill>
                  <a:srgbClr val="083D2C"/>
                </a:solidFill>
              </a:rPr>
              <a:t>Anchor fulfilment visibility</a:t>
            </a:r>
            <a:endParaRPr/>
          </a:p>
        </p:txBody>
      </p:sp>
      <p:sp>
        <p:nvSpPr>
          <p:cNvPr id="233" name="Google Shape;233;p12"/>
          <p:cNvSpPr/>
          <p:nvPr/>
        </p:nvSpPr>
        <p:spPr>
          <a:xfrm>
            <a:off x="2000250" y="4667250"/>
            <a:ext cx="74295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>
                <a:solidFill>
                  <a:srgbClr val="62756B"/>
                </a:solidFill>
              </a:rPr>
              <a:t>Show what was ordered, delivered and paid — clearly.</a:t>
            </a:r>
            <a:endParaRPr/>
          </a:p>
        </p:txBody>
      </p:sp>
      <p:sp>
        <p:nvSpPr>
          <p:cNvPr id="234" name="Google Shape;234;p12"/>
          <p:cNvSpPr/>
          <p:nvPr/>
        </p:nvSpPr>
        <p:spPr>
          <a:xfrm>
            <a:off x="762000" y="5543550"/>
            <a:ext cx="10668000" cy="647700"/>
          </a:xfrm>
          <a:prstGeom prst="roundRect">
            <a:avLst>
              <a:gd fmla="val 35294" name="adj"/>
            </a:avLst>
          </a:prstGeom>
          <a:solidFill>
            <a:srgbClr val="083D2C"/>
          </a:solidFill>
          <a:ln cap="flat" cmpd="sng" w="9525">
            <a:solidFill>
              <a:srgbClr val="083D2C"/>
            </a:solidFill>
            <a:prstDash val="solid"/>
            <a:round/>
            <a:headEnd len="sm" w="sm" type="none"/>
            <a:tailEnd len="sm" w="sm" type="none"/>
          </a:ln>
          <a:effectLst>
            <a:outerShdw blurRad="19050" dir="5400000" dist="9525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2"/>
          <p:cNvSpPr/>
          <p:nvPr/>
        </p:nvSpPr>
        <p:spPr>
          <a:xfrm>
            <a:off x="1200150" y="5753100"/>
            <a:ext cx="97917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500">
                <a:solidFill>
                  <a:srgbClr val="FFFFFF"/>
                </a:solidFill>
              </a:rPr>
              <a:t>NEXT RESEARCH  •  active users  •  purchasing share  •  settlement flow</a:t>
            </a:r>
            <a:endParaRPr/>
          </a:p>
        </p:txBody>
      </p:sp>
      <p:sp>
        <p:nvSpPr>
          <p:cNvPr id="236" name="Google Shape;236;p12"/>
          <p:cNvSpPr/>
          <p:nvPr/>
        </p:nvSpPr>
        <p:spPr>
          <a:xfrm>
            <a:off x="609600" y="6496050"/>
            <a:ext cx="68580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25">
                <a:solidFill>
                  <a:srgbClr val="62756B"/>
                </a:solidFill>
              </a:rPr>
              <a:t>Directional field snapshot • 16 pharmacies • </a:t>
            </a:r>
            <a:endParaRPr/>
          </a:p>
        </p:txBody>
      </p:sp>
      <p:sp>
        <p:nvSpPr>
          <p:cNvPr id="237" name="Google Shape;237;p12"/>
          <p:cNvSpPr/>
          <p:nvPr/>
        </p:nvSpPr>
        <p:spPr>
          <a:xfrm>
            <a:off x="11144250" y="6457950"/>
            <a:ext cx="4572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083D2C"/>
                </a:solidFill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A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3" title="WhatsApp Image 2026-08-24 at 18.23.00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1435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3" title="WhatsApp Image 2026-08-24 at 18.23.01.jpeg"/>
          <p:cNvPicPr preferRelativeResize="0"/>
          <p:nvPr/>
        </p:nvPicPr>
        <p:blipFill rotWithShape="1">
          <a:blip r:embed="rId4">
            <a:alphaModFix/>
          </a:blip>
          <a:srcRect b="32443" l="0" r="0" t="-5414"/>
          <a:stretch/>
        </p:blipFill>
        <p:spPr>
          <a:xfrm>
            <a:off x="4537375" y="-589725"/>
            <a:ext cx="7654626" cy="7447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CFA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"/>
          <p:cNvSpPr/>
          <p:nvPr/>
        </p:nvSpPr>
        <p:spPr>
          <a:xfrm>
            <a:off x="685800" y="723900"/>
            <a:ext cx="37149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25">
                <a:solidFill>
                  <a:srgbClr val="3FAE68"/>
                </a:solidFill>
              </a:rPr>
              <a:t>FIELD SNAPSHOT • </a:t>
            </a:r>
            <a:endParaRPr/>
          </a:p>
        </p:txBody>
      </p:sp>
      <p:pic>
        <p:nvPicPr>
          <p:cNvPr id="251" name="Google Shape;251;p14" title="WhatsApp Image 2026-08-24 at 18.23.02(1)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0324" y="-836350"/>
            <a:ext cx="5019874" cy="8928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4" title="WhatsApp Image 2026-08-24 at 18.23.01(2)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70275" y="-60750"/>
            <a:ext cx="5234625" cy="6979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4" title="WhatsApp Image 2026-08-24 at 18.23.01(1).jpeg"/>
          <p:cNvPicPr preferRelativeResize="0"/>
          <p:nvPr/>
        </p:nvPicPr>
        <p:blipFill rotWithShape="1">
          <a:blip r:embed="rId5">
            <a:alphaModFix/>
          </a:blip>
          <a:srcRect b="0" l="0" r="31167" t="0"/>
          <a:stretch/>
        </p:blipFill>
        <p:spPr>
          <a:xfrm>
            <a:off x="4488375" y="-121500"/>
            <a:ext cx="3941949" cy="710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